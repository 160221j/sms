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is software engineering using Go. SMS starts week 4–5; today is foundations.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short. Credibility, then class norms.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an SE course that uses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should leave knowing SMS starts week 4–5.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SMS is not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who has shipped something another person had to run?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this on the board and leave it up for the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warm but firm on the AI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bash Java/Python.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on toolchain — that is today's practical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dive into Gin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 nobody uses an ancient apt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exact patch version on go.dev/dl. Do not apt install golang-go.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Ignore GOPATH for this course except that it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VS Code is the class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before/after: messy hello.go, save, it snaps into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it from scratch. Students type with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use Main vs main as the example. Println is the clean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go build . today — there is no go.mod until week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GitHub a completion gate for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binary from go build must not be committed.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 during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Homework is on the student handout — not 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start slices until week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questions. Then start the install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EAD9A3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AD9A3"/>
                </a:solidFill>
                <a:latin typeface="Calibri"/>
              </a:rPr>
              <a:t>GO PROGRAMMING MASTER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Week 1, 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83280"/>
            <a:ext cx="10058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E7DDD0"/>
                </a:solidFill>
                <a:latin typeface="Calibri"/>
              </a:rPr>
              <a:t>Software engineering, why Go, your toolchain, and the first program you will put on GitHub.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D7CBB8"/>
                </a:solidFill>
                <a:latin typeface="Calibri"/>
              </a:rPr>
              <a:t>Umesh Indrajith · BSc Eng (Hons), University of Moratuwa
Senior Software Engineer / Lecturer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WHO IS TEACHING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Umesh Indrajith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6596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800" b="1">
                <a:solidFill>
                  <a:srgbClr val="084F4B"/>
                </a:solidFill>
                <a:latin typeface="Calibri"/>
              </a:rPr>
              <a:t>Background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4202B"/>
                </a:solidFill>
                <a:latin typeface="Calibri"/>
              </a:rPr>
              <a:t>BSc Engineering (Hons) in Electronic and Telecommunication Engineering, University of Moratuwa.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96596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800" b="1">
                <a:solidFill>
                  <a:srgbClr val="084F4B"/>
                </a:solidFill>
                <a:latin typeface="Calibri"/>
              </a:rPr>
              <a:t>Practice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4202B"/>
                </a:solidFill>
                <a:latin typeface="Calibri"/>
              </a:rPr>
              <a:t>Senior Software Engineer. You will learn how Go is used to ship backend systems, not only how the language looks.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4424" y="196596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800" b="1">
                <a:solidFill>
                  <a:srgbClr val="084F4B"/>
                </a:solidFill>
                <a:latin typeface="Calibri"/>
              </a:rPr>
              <a:t>This room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4202B"/>
                </a:solidFill>
                <a:latin typeface="Calibri"/>
              </a:rPr>
              <a:t>Ask questions as we go. If the install fails, say so immediately — do not sit broken until the lab.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3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WHAT THIS COURSE 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Software engineering, using 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Not “memorise syntax for 16 weeks, then a project at the end”.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You will learn to design, build, test, review, and explain working software.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Go is the language. Git, HTTP, databases, and tests are the job.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By week 16 you have a final project in your portfolio: the Student Management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4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16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The shape of the course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6596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800" b="1">
                <a:solidFill>
                  <a:srgbClr val="084F4B"/>
                </a:solidFill>
                <a:latin typeface="Calibri"/>
              </a:rPr>
              <a:t>Weeks 1–3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4202B"/>
                </a:solidFill>
                <a:latin typeface="Calibri"/>
              </a:rPr>
              <a:t>Language enough to be dangerous: types, control flow, slices, maps, first functions, Git every week.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96596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800" b="1">
                <a:solidFill>
                  <a:srgbClr val="084F4B"/>
                </a:solidFill>
                <a:latin typeface="Calibri"/>
              </a:rPr>
              <a:t>Weeks 4–16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4202B"/>
                </a:solidFill>
                <a:latin typeface="Calibri"/>
              </a:rPr>
              <a:t>One product: SMS. Students, then Postgres, then login. Ten to twelve weeks of hands-on.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4424" y="196596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800" b="1">
                <a:solidFill>
                  <a:srgbClr val="084F4B"/>
                </a:solidFill>
                <a:latin typeface="Calibri"/>
              </a:rPr>
              <a:t>Why REST so early?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4202B"/>
                </a:solidFill>
                <a:latin typeface="Calibri"/>
              </a:rPr>
              <a:t>So you have something to demo from week 5. We deepen functions and structs inside that project.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5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If Day 1 works, you 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Explain what software engineering is, in two sentences.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Say why we chose Go for a backend course.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Run Go 1.25, VS Code, and gofmt on Ubuntu (or WSL).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Write, run, and build Hello, Epic Learn.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Put that program on GitHub.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6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SOFTWARE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Building software that other people can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4D5D6B"/>
                </a:solidFill>
                <a:latin typeface="Calibri"/>
              </a:rPr>
              <a:t>Programming is writing instructions. Software engineering is delivering a system that can be changed, tested, and run by a team — including future you.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004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It has users, constraints, and a lifespan longer than the demo.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It has quality: correctness, readability, security of secrets, tests.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It has a process: we do not only “code until it works on my machine”.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7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THE LOOP WE WILL USE ALL 16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4202B"/>
                </a:solidFill>
                <a:latin typeface="Calibri"/>
              </a:rPr>
              <a:t>Requirements → design → implement → test →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6596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800" b="1">
                <a:solidFill>
                  <a:srgbClr val="084F4B"/>
                </a:solidFill>
                <a:latin typeface="Calibri"/>
              </a:rPr>
              <a:t>Requirements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4202B"/>
                </a:solidFill>
                <a:latin typeface="Calibri"/>
              </a:rPr>
              <a:t>Who is it for? What must it do? What is out of scope?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96596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800" b="1">
                <a:solidFill>
                  <a:srgbClr val="084F4B"/>
                </a:solidFill>
                <a:latin typeface="Calibri"/>
              </a:rPr>
              <a:t>Design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4202B"/>
                </a:solidFill>
                <a:latin typeface="Calibri"/>
              </a:rPr>
              <a:t>Folders, API shape, data. A little design beats a mess.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13631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800" b="1">
                <a:solidFill>
                  <a:srgbClr val="084F4B"/>
                </a:solidFill>
                <a:latin typeface="Calibri"/>
              </a:rPr>
              <a:t>Implement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4202B"/>
                </a:solidFill>
                <a:latin typeface="Calibri"/>
              </a:rPr>
              <a:t>Go code. Small steps. Commit often.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913631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800" b="1">
                <a:solidFill>
                  <a:srgbClr val="084F4B"/>
                </a:solidFill>
                <a:latin typeface="Calibri"/>
              </a:rPr>
              <a:t>Test &amp; review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4202B"/>
                </a:solidFill>
                <a:latin typeface="Calibri"/>
              </a:rPr>
              <a:t>go test, then another human reads it. That is the job.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8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A COURSE, NOT A PLAYLIST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How we work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I type, you type. Watching is not the skill.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Homework is a GitHub pull request, not a zip on WhatsApp.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Unformatted code comes back. gofmt is not optional.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AI tools are allowed. If you cannot explain the line, it is not yours.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9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WHY 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A language designed for building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109728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D5D6B"/>
                </a:solidFill>
                <a:latin typeface="Calibri"/>
              </a:rPr>
              <a:t>Created at Google (2007–2009) for large systems: simple language, excellent toolchain, great concurrency, one static binary.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6324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Used for APIs, CLIs, cloud tooling, Kubernetes-related systems.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Fast to compile. Easy to read. Hard to hide complexity behind magic.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We chose it because a beginner can reach a real HTTP API in this course.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10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WHY GO · FEATURES YOU WILL ACTUALLY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What we are buying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Simplicity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Small language. Fewer ways to write the same thing. Good for teams.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874519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Toolchain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go run, go build, gofmt, go test, go mod — one installer.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4424" y="1874519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Concurrency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Goroutines. Weeks 10–12. Mention now, practise later.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986783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One binary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Compile and copy. No virtualenv ritual to run the server.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3986783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Standard library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HTTP and JSON live in stdlib. We add Gin once you have seen net/http.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64424" y="3986783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Garbage collection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You will still learn pointers. You will not manage malloc by hand.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11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WHERE WE ARE GOING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Student Management System (SMS)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Staff register and log in.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Staff create, list, update, delete students.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Go API + PostgreSQL. A React UI is provided — you are graded on Go.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Not today. Weeks 1–3 are the tools. Project kickoff is week 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12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PINNED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Everyone uses the same versions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Go 1.25.x from go.dev — not whatever apt install golang-go gives you.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Ubuntu in the lab. Windows: WSL2 + Ubuntu. macOS is fine.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VS Code + official Go extension. GoLand is optional if you already have it.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Git + a GitHub account. Postman comes when we do HTTP.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13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011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155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INSTALL GO 1.25 ON UBUNTU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7160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Do this with 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148840"/>
            <a:ext cx="10972800" cy="32004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wget https://go.dev/dl/go1.25.0.linux-amd64.tar.gz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sudo rm -rf /usr/local/go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sudo tar -C /usr/local -xzf go1.25.0.linux-amd64.tar.gz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echo 'export PATH=$PATH:/usr/local/go/bin' &gt;&gt; ~/.bashrc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source ~/.bashrc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go version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14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DID IT WORK?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go version and go env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20240"/>
            <a:ext cx="10972800" cy="12344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go version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go env GOROOT GOPATH GOMODCACHE GO111MODULE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GOROOT — where the Go install lives (usually /usr/local/go).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GOPATH — old workspace idea. We do not put class projects there.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Modules — a folder with go.mod is the project. That is week 4. Today: one file is enough.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15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011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155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7160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VS Code, set up for 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0312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Install VS Code if needed. Open it.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Extensions: search Go by the Go Team at Google. Install it.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Open a folder you will use for this course, e.g. ~/epic-go.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Command Palette: Go: Install/Update Tools — install all (gofmt, gopls, dlv).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16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THE SETTING YOU MUST TURN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Format on save = gofmt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20240"/>
            <a:ext cx="10972800" cy="22860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"editor.formatOnSave": true,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"[go]":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"editor.defaultFormatter": "golang.go",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"editor.formatOnSave": true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89120"/>
            <a:ext cx="10972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D5D6B"/>
                </a:solidFill>
                <a:latin typeface="Calibri"/>
              </a:rPr>
              <a:t>Settings JSON (Ctrl+Shift+P → Preferences: Open User Settings (JSON)). From today, unformatted Go is rejected.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17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FIRST 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Anatomy of a Go 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1488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package main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import "fmt"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func main()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fmt.Println("Hello, Epic Learn")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6052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package main + func main → an executable program.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import "fmt" — standard library formatted I/O.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Save as hello.go.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18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NAMES IN 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Exported vs unexported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A name that starts with a capital letter is exported (visible from other packages).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fmt.Println works because Println is exported.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fmt.println will not compile.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This is not Java’s public keyword. The capital letter is the rule.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011680"/>
            <a:ext cx="4709160" cy="219456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fmt.Println("ok")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// fmt.println("no")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// undefined: fmt.println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19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011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155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DEVELOP, COMPILE,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7160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Three commands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57400"/>
            <a:ext cx="10972800" cy="20574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gofmt -w hello.go           # rewrite the file in standard format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go run hello.go             # compile in a temp place and run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go build -o hello hello.go  # produce a binary (no go.mod needed yet)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./hello                     # run the binary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206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go run — while learning.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go build — what you ship (a file you can copy).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go test exists. We use it on a real function in week 2.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20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VERSION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Why Git on 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94560"/>
            <a:ext cx="1097280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If it is not on GitHub, it is a story you told. The course artefact is the history of your work: commits, then pull requests from week 4.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21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011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155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7160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Init, ignore, commit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57400"/>
            <a:ext cx="10972800" cy="38862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git config --global user.name  "Your Name"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git config --global user.email "you@example.com"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git init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echo hello &gt; .gitignore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git add hello.go .gitignore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git status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git commit -m "Add Hello Epic Learn"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22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A remote is a backup and a classroom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155448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git branch -M main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git remote add origin https://github.com/YOU/hello-epic-learn.git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git push -u origin 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118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Create an empty repo on github.com (no README if you already committed locally).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Add me as collaborator if that is how this batch submits.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git clone is how you copy a repo onto a new machine — we will use it for SMS in week 4.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23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LAB · REST OF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Done when all of this is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go version shows 1.25.x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VS Code formats a Go file on save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hello.go prints Hello, Epic Learn via go run and via ./hello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GitHub repo contains hello.go, not the compiled binary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Show me the GitHub URL before you leave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24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NEXT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Week 1 wrap / Week 2 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If anyone’s install is still broken, we fix it first.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Then: variables, types, zero values, operators, strings.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Bring a working go version and your GitHub URL.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EAD9A3"/>
                </a:solidFill>
                <a:latin typeface="Calibri"/>
              </a:rPr>
              <a:t>WEEK 1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25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112471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