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back. First 10 minutes: leftover installs and homework. Still no SMS code. Still no slices.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Spot-check three repos if time. Cold-call two students on why-go.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is a worksheet + a tiny CLI. Modules are one command today, theory in week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Ask: what type is a phone number? String — we do not do arithmetic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 with them. Point at seats.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error: := at package level. At least one name on the left must be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three operators on the board: var  :=  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iota is light. Do not teach bit shifts with iota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Skip int8/uint64 tables unless someone asks. Phone is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week-2 idea they must take home. Pointers and slices are a preview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the failing lines, read the compiler error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File: ~/epic-go/week02/zeros.go. Show the failing celsius + 0.5 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10/3 vs float64(10)/3. a++ cannot be used inside fmt.Println.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start if/for. There is no conversion from int to bool.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Pace valve. If conversion + zeros ate time, show the slide and move to fmt.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Have them print %T of an inferred := value.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explain slices. TrimSpace is the teaching point for FullName.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may count six letters; Unicode has five code points. Measure, do not guess.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range over a string yields runes and byte index. Do not teach indexing word[0] as a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format, one parse. Tell the 1 2 3 4 5 6 7 story in one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FullName is capitalised so week 1’s export rule reappears.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File: ~/epic-go/week02/greet.go. Do not explain pointers.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 the test first (return first only), then fix. Red → green.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Homework is on the student handout — not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start slices today even if the lab finishes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 questions. Then start the worksheet. End by collecting GitHub URLs.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659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AD9A3"/>
                </a:solidFill>
                <a:latin typeface="Calibri"/>
              </a:rPr>
              <a:t>GO PROGRAMMING MASTER 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Week 2, 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83280"/>
            <a:ext cx="100584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E7DDD0"/>
                </a:solidFill>
                <a:latin typeface="Calibri"/>
              </a:rPr>
              <a:t>Variables, types, zero values, operators, and strings — the data you will later put on a student record.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4632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D7CBB8"/>
                </a:solidFill>
                <a:latin typeface="Calibri"/>
              </a:rPr>
              <a:t>Umesh Indrajith · BSc Eng (Hons), University of Moratuwa
Senior Software Engineer / Lecturer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SINCE LAST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We start only if the toolchain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version is 1.25.x. If not, we fix that before anyone types new code.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Homework was why-go.md + version proof in the same GitHub repo as hello.go.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I will ask two people: programming vs software engineering, and why Go for SMS.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Unformatted Go is still returned. gofmt did not expire.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If Day 1 of week 2 works, you 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Declare values with var, :=, and const.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Name the zero value of int, string, bool, and a pointer.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Convert types explicitly. Go will not do it for you.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Use fmt and strings; tell bytes from runes.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Run go test on FullName — first test of the course.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SOFTWARE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Types are a design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1097280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A type answers: what kind of value is this, and what is allowed? That is how a team agrees before the first line of a handler.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2004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SMS later: student age is an int, email is a string, enrolled is a bool.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Wrong type compiles only if you force it. That is a gift. Use it.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Names: camelCase inside a package, MixedCaps to export. Comments explain why.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DECLARATION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var — say the name, then the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488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campus string = "Epic Learn"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seats int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open bool = true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(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first string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last  string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6052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Works at package level and inside functions.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If you omit the value, you still have a value: the zero value.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var seats int is not “empty”. It is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DECLARATION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:= — short, only inside a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6035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Declare and assign. Go infers the type from the right-hand side.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Illegal at package level. Illegal if the name already exists on the left alone (reuse needs =).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Inside func, this is the usual form.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011680"/>
            <a:ext cx="4709160" cy="25603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name := "Ada"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year := 1815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ok := true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fmt.Println(name, year, ok)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WHICH ONE?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var vs :=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659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Use var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Package level. Or you want the zero value and will assign later. Or you want the type written down because the value is not obvious.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659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Use :=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Inside a function, first time you need the name, the value is right there. This is most of the course.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1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Use =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The name already exists. You are changing it, not inventing it.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13631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Do not mix for style points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Pick one per line. gofmt will not save a confusing declaration.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CONSTANTS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const, and a light look at iota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317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const institute = "Epic Learn"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const maxSeats = 30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const (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statusActive = iota  // 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statusIdle           // 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statusArchived       // 2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4340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 const is known at compile time. You cannot assign a variable into it.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iota counts up in a const block. Remember the idea; do not build an enum library today.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THE TYPES YOU WILL ACTUALLY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Start with four, then two aliases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int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Whole numbers. Default integer. Size follows the machine (64-bit in this lab).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float64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Decimals. Prefer this over float32 unless a library forces you.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64424" y="1874519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bool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true or false. Nothing else.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986783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string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Text in double quotes. Immutable. UTF-8 under the hood.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9392" y="3986783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byte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Alias for uint8. One byte of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64424" y="3986783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600" b="1">
                <a:solidFill>
                  <a:srgbClr val="084F4B"/>
                </a:solidFill>
                <a:latin typeface="Calibri"/>
              </a:rPr>
              <a:t>rune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4202B"/>
                </a:solidFill>
                <a:latin typeface="Calibri"/>
              </a:rPr>
              <a:t>Alias for int32. One Unicode code point. Written 'අ'.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THE IDEA THAT SAVES YOU 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Zero values — Go never leaves junk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488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n int          // 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s string       // ""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ok bool        // false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p *int         // nil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var names []string // nil  (week 3 — just notice 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10972800" cy="1645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4D5D6B"/>
                </a:solidFill>
                <a:latin typeface="Calibri"/>
              </a:rPr>
              <a:t>C and some older languages give you garbage. Go gives you a known value. That is why if s == "" is a real check, not a crash.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CONVERSIONS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No implicit numeric conversion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20240"/>
            <a:ext cx="5852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int and int64 are different types. So are int and float64.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You write the conversion. The compiler will not guess.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Truncation is your problem: int(3.9) is 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1965960"/>
            <a:ext cx="4892040" cy="31089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var year int = 2026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var precise float64 = float64(year)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var score float64 = 3.9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var whole int = int(score) // 3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// year + 0.5           // no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// int64(year) + year   // 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ZERO VALUES AND CONVERSIONS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Type this with 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57400"/>
            <a:ext cx="10972800" cy="38862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import "fmt"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var seats int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var label string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var open bool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fmt.Printf("zeroes: %d %q %t\n", seats, label, open)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celsius := 33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    fmt.Println(float64(celsius) * 9 / 5 + 32)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OPERATORS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Arithmetic and assignment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9659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a, b := 10, 3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sum := a + b     // 13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mod := a % b     // 1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a += 2           // 12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a++              // 13  (statement, not an expression)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23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+ on strings concatenates: "Ada" + " " + "Lovelace".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There is no a++ + b cleverness. ++ is a statement of its own.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Integer division: 10 / 3 is 3. Use a float64 if you want 3.33.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OPERATORS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Comparison and logic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14884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name := "Ada"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fmt.Println(name == "Ada")   // true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fmt.Println(name != "ada")   // true — case matters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enrolled, paid := true, false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fmt.Println(enrolled &amp;&amp; paid) // false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fmt.Println(enrolled || paid) // true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fmt.Println(!paid)            //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Strings compare lexicographically, byte by byte. Locale sorting is not today.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We will put these inside if next week. Today, print the bool.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OPERATORS · LIGHT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Bitwise — know they exist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9659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fmt.Println(1&lt;&lt;3)   // 8   shift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fmt.Println(6 &amp; 3)   // 2   and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fmt.Println(6 | 3)   // 7   or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E8F2EF"/>
                </a:solidFill>
                <a:latin typeface="Consolas"/>
              </a:rPr>
              <a:t>fmt.Println(6 ^ 3)   // 5   xor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23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You will not need these for SMS fields.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They show up in flags, permissions, and some interview questions.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If the lab is slow, skip the live typing here. The handout has the table.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FMT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Print so another human can read 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7373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fmt.Println("plain", 42)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fmt.Printf("name=%s age=%d ok=%t type=%T\n", "Ada", 36, true, 36)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s := fmt.Sprintf("Hello, %s", "Epic Learn")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947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%s string · %d int · %f float · %t bool · %v default · %T type · %q quoted string.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Println adds spaces and a newline. Printf does not guess — you write the verbs.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17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STRINGS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The package you will import every week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317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import "strings"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s := "  Ada Lovelace  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fmt.Println(strings.TrimSpace(s))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fmt.Println(strings.ToUpper("sms"))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fmt.Println(strings.Contains(s, "Ada"))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fmt.Println(strings.Split("a,b,c", ","))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fmt.Println(strings.Join([]string{"Ada", "Lovelace"}, " "))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Split/Join use a slice. Copy the line; slices as a topic are week 3.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FullName homework: trim, then join with one space.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18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BYTES AND RUNES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len counts bytes, not letters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23317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import "unicode/utf8"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fmt.Println(len("cafe"))                         // 4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fmt.Println(len("café"))                         // 5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fmt.Println(utf8.RuneCountInString("café"))      // 4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fmt.Println(len("සිංහල"))                        // 15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fmt.Println(utf8.RuneCountInString("සිංහල"))     //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 Go string is a read-only slice of bytes, usually UTF-8.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4202B"/>
                </a:solidFill>
                <a:latin typeface="Calibri"/>
              </a:rPr>
              <a:t>•  A rune is a Unicode code point. é is one rune and two bytes. සි is ස plus a vowel sign.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19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UTF-8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Print what len actually measured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57400"/>
            <a:ext cx="10972800" cy="388620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import (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"fmt"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"unicode/utf8"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word := "සිංහල"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fmt.Printf("bytes=%d runes=%d %q\n",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len(word), utf8.RuneCountInString(word), word)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for i, r := range word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    fmt.Printf("%d %c %U\n", i, r, r)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20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Dates exist. We need them for SMS later.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874519"/>
            <a:ext cx="10972800" cy="196596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import "time"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now := time.Now()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fmt.Println(now.Format("2006-01-02"))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fmt.Println(now.Weekday())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dob, err := time.Parse("2006-01-02", "2001-05-17")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fmt.Println(dob, err)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0233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The layout is the reference date Mon Jan 2 15:04:05 MST 2006 — not YYYY-MM-DD.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Write 2006-01-02 when you want year-month-day. Memorise that pattern.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err is a preview. If parse fails it is not nil. We will not master errors today.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21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CLEAN CODE THIS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Names and comments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19659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camelCase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firstName, seatCount. Not first_name in Go identifiers.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96596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MixedCaps to export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FullName is visible later from other packages. fullName is not exported.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13631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Comments say why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Do not write // increment i. Write why this number is 30, or why we trim spaces.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913631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DF9"/>
          </a:solidFill>
          <a:ln>
            <a:solidFill>
              <a:srgbClr val="D8CF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109728"/>
          <a:lstStyle/>
          <a:p>
            <a:pPr algn="ctr"/>
            <a:r>
              <a:rPr sz="1800" b="1">
                <a:solidFill>
                  <a:srgbClr val="084F4B"/>
                </a:solidFill>
                <a:latin typeface="Calibri"/>
              </a:rPr>
              <a:t>gofmt still wins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4202B"/>
                </a:solidFill>
                <a:latin typeface="Calibri"/>
              </a:rPr>
              <a:t>Alignment, tabs, spacing — not your taste. The review looks at names and behaviour.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22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A TINY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Flags today, HTTP in week 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233172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package main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import ("flag"; "fmt")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func main() {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first := flag.String("first", "", "first name")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last  := flag.String("last", "", "last name")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flag.Parse()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    fmt.Println(*first, *last)</a:t>
            </a:r>
          </a:p>
          <a:p>
            <a:pPr>
              <a:spcAft>
                <a:spcPts val="200"/>
              </a:spcAft>
            </a:pPr>
            <a:r>
              <a:rPr sz="15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48056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>
                <a:solidFill>
                  <a:srgbClr val="4D5D6B"/>
                </a:solidFill>
                <a:latin typeface="Calibri"/>
              </a:rPr>
              <a:t>go run greet.go -first Ada -last Lovelace — then put FullName in the middle. Pointers: flag.String returns *string. Write the * to read it. Theory is week 8.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23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2011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24E1D"/>
                </a:solidFill>
                <a:latin typeface="Calibri"/>
              </a:rPr>
              <a:t>LIVE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15568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FIRST TEST OF THE COURSE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37160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>
                <a:solidFill>
                  <a:srgbClr val="14202B"/>
                </a:solidFill>
                <a:latin typeface="Calibri"/>
              </a:rPr>
              <a:t>go test on a pure function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011680"/>
            <a:ext cx="10972800" cy="2468880"/>
          </a:xfrm>
          <a:prstGeom prst="roundRect">
            <a:avLst>
              <a:gd name="adj" fmla="val 8000"/>
            </a:avLst>
          </a:prstGeom>
          <a:solidFill>
            <a:srgbClr val="102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09728" tIns="109728" bIns="91440"/>
          <a:lstStyle/>
          <a:p>
            <a:pPr algn="ctr"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// names.go          package names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FullName(first, last string) string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return first + " " + last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// names_test.go     package names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func TestFullName(t *testing.T) {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got := FullName("Ada", "Lovelace")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    if got != "Ada Lovelace" { t.Fatalf("got %q", got) }</a:t>
            </a:r>
          </a:p>
          <a:p>
            <a:pPr>
              <a:spcAft>
                <a:spcPts val="200"/>
              </a:spcAft>
            </a:pPr>
            <a:r>
              <a:rPr sz="1400" b="0">
                <a:solidFill>
                  <a:srgbClr val="E8F2EF"/>
                </a:solidFill>
                <a:latin typeface="Consolas"/>
              </a:rPr>
              <a:t>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617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One new command so the test can run: go mod init epiclearn/week02. Meaning: week 4.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14202B"/>
                </a:solidFill>
                <a:latin typeface="Calibri"/>
              </a:rPr>
              <a:t>•  Then: go test. Green is the gate. Improve FullName with TrimSpace for homework.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24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LAB · REST OF 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Done when all of this is 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Worksheet: every zero-value and conversion cell filled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zeros.go prints zeros and a correct Celsius → Fahrenheit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greet.go -first … -last … prints a single full name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go test in the names folder is green for FullName("Ada","Lovelace")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14202B"/>
                </a:solidFill>
                <a:latin typeface="Calibri"/>
              </a:rPr>
              <a:t>•  Commit and push to GitHub. Show me the URL before you leave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084F4B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25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86868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>
                <a:solidFill>
                  <a:srgbClr val="0B6E68"/>
                </a:solidFill>
                <a:latin typeface="Calibri"/>
              </a:rPr>
              <a:t>NEXT SESSION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124712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14202B"/>
                </a:solidFill>
                <a:latin typeface="Calibri"/>
              </a:rPr>
              <a:t>Week 3 — control flow, slices,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if, switch, for, range.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Arrays vs slices; append and the backing-array gotcha.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Maps and the comma-ok check.</a:t>
            </a: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14202B"/>
                </a:solidFill>
                <a:latin typeface="Calibri"/>
              </a:rPr>
              <a:t>•  Bring a green go test and the ten exercises.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pic-lear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127497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326880" y="201168"/>
            <a:ext cx="2560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1">
                <a:solidFill>
                  <a:srgbClr val="EAD9A3"/>
                </a:solidFill>
                <a:latin typeface="Calibri"/>
              </a:rPr>
              <a:t>WEEK 2  · 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713232"/>
            <a:ext cx="11551615" cy="18288"/>
          </a:xfrm>
          <a:prstGeom prst="rect">
            <a:avLst/>
          </a:prstGeom>
          <a:solidFill>
            <a:srgbClr val="D9B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73952"/>
            <a:ext cx="11551615" cy="13716"/>
          </a:xfrm>
          <a:prstGeom prst="rect">
            <a:avLst/>
          </a:prstGeom>
          <a:solidFill>
            <a:srgbClr val="0A2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28816"/>
            <a:ext cx="9601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0A2A5C"/>
                </a:solidFill>
                <a:latin typeface="Calibri"/>
              </a:rPr>
              <a:t>Epic Learn Institute of Higher Education - Go Programming Master Course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6528816"/>
            <a:ext cx="14630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4D5D6B"/>
                </a:solidFill>
                <a:latin typeface="Calibri"/>
              </a:rPr>
              <a:t>26 /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124712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7200" b="1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