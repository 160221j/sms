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Product week 2. Skeleton from week 4 must exist. Today: net/http first, then Gin, GET /health on :8080. No DB. No JWT.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Spot-check three skeletons. Do not start Gin on a broken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Deep functions week 6; deep structs week 7. Handlers are functions the router calls.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Reassure: incomplete theory is intentional. Product clock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Board these four words. Today is almost all GET + 200.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Postman pretty JSON. Match COURSE.md health payload exactly.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Separate throwaway file or branch. Students must see ListenAndServe before Gin Default().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go get. Show go.mod require appear. Windows/WSL: stay in Ubuntu.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Prefer http.StatusOK over magic 200 when you show the polished 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struct only. Do not teach embedding or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 on the board. Health can live in main today; routes package is fine if they are ready.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Replace sms starting print. go run ./cmd/server. Leave process running for curl/Postman.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Optional in lab if time; required-ish for stronger students as stretch.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Today mostly 200. Plant 400 for validation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minute. Full validation week 7/9.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type curl themselves. jq optional.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room installing Postman. WSL: localhost usually works from Windows Postman to Linux server.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Pace valve. One slide. Move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Accept messy main if health works. Praise anyone who extracts routes.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Gate on board. Typical: wrong port, forgot go get, binding 0.0.0.0 vs localhost confusion on WSL.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Homework is the running API proof. No JWT.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start student CRUD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oral quiz.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Frontend is week 15.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Then stdlib demo → Gin health → curl/Postman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EAD9A3"/>
                </a:solidFill>
                <a:latin typeface="Calibri"/>
              </a:rPr>
              <a:t>WEEK 5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 /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96596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AD9A3"/>
                </a:solidFill>
                <a:latin typeface="Calibri"/>
              </a:rPr>
              <a:t>GO PROGRAMMING MASTER COURSE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331720"/>
            <a:ext cx="109728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Week 5, Day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383280"/>
            <a:ext cx="100584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0">
                <a:solidFill>
                  <a:srgbClr val="E7DDD0"/>
                </a:solidFill>
                <a:latin typeface="Calibri"/>
              </a:rPr>
              <a:t>HTTP, JSON, and Gin — the first SMS API you can hit from Postman.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846320"/>
            <a:ext cx="100584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D7CBB8"/>
                </a:solidFill>
                <a:latin typeface="Calibri"/>
              </a:rPr>
              <a:t>Umesh Indrajith · BSc Eng (Hons), University of Moratuwa
Senior Software Engineer / Lecturer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5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2 /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SINCE LAST WEEK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Skeleton first. Then the network.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659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go run ./cmd/server still prints sms starting (or we fix that in 10 minutes).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Module path and internal/ tree are in place. PR from week 4 is reviewable.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Today that process learns to speak HTTP.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gofmt and no .env in git — unchanged rules.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5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3 /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TODAY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If Day 1 of week 5 works, you can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659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Name HTTP methods, paths, and common status codes.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Write a tiny net/http server so Gin is not magic.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Use Gin: router, gin.Context, c.JSON.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Return JSON with a minimal struct + tags.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Ship GET /health on :8080 and prove it in Postman + curl.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5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4 /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SOFTWARE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4202B"/>
                </a:solidFill>
                <a:latin typeface="Calibri"/>
              </a:rPr>
              <a:t>Why REST before a full functions course?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20240"/>
            <a:ext cx="109728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4D5D6B"/>
                </a:solidFill>
                <a:latin typeface="Calibri"/>
              </a:rPr>
              <a:t>So every remaining week has a running product. You copy a handler shape now; you deepen functions and structs inside SMS next.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1089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Spiral, not waterfall — just enough to ship a vertical slice.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Today’s milestone: health JSON. Not login. Not Postgres.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A classmate should hit your API from Postman without reading your brain.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5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5 /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HTTP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Client asks. Server answers.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920240"/>
            <a:ext cx="5394960" cy="164592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/>
            <a:r>
              <a:rPr sz="1600" b="1">
                <a:solidFill>
                  <a:srgbClr val="084F4B"/>
                </a:solidFill>
                <a:latin typeface="Calibri"/>
              </a:rPr>
              <a:t>Method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4202B"/>
                </a:solidFill>
                <a:latin typeface="Calibri"/>
              </a:rPr>
              <a:t>GET read · POST create · PUT replace · DELETE remove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920240"/>
            <a:ext cx="5212080" cy="164592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/>
            <a:r>
              <a:rPr sz="1600" b="1">
                <a:solidFill>
                  <a:srgbClr val="084F4B"/>
                </a:solidFill>
                <a:latin typeface="Calibri"/>
              </a:rPr>
              <a:t>Path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4202B"/>
                </a:solidFill>
                <a:latin typeface="Calibri"/>
              </a:rPr>
              <a:t>/health · /api/hello · later /api/students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749039"/>
            <a:ext cx="5394960" cy="164592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/>
            <a:r>
              <a:rPr sz="1600" b="1">
                <a:solidFill>
                  <a:srgbClr val="084F4B"/>
                </a:solidFill>
                <a:latin typeface="Calibri"/>
              </a:rPr>
              <a:t>Status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4202B"/>
                </a:solidFill>
                <a:latin typeface="Calibri"/>
              </a:rPr>
              <a:t>200 OK · 400 bad input · 404 missing · 500 server fault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749039"/>
            <a:ext cx="5212080" cy="164592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/>
            <a:r>
              <a:rPr sz="1600" b="1">
                <a:solidFill>
                  <a:srgbClr val="084F4B"/>
                </a:solidFill>
                <a:latin typeface="Calibri"/>
              </a:rPr>
              <a:t>Body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4202B"/>
                </a:solidFill>
                <a:latin typeface="Calibri"/>
              </a:rPr>
              <a:t>Often JSON. Headers carry metadata (Content-Type).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5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6 /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The body shape APIs speak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874519"/>
            <a:ext cx="10972800" cy="182880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  "status": "ok",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  "message": "Backend is running"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93192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Keys are strings. Values: string, number, bool, object, array, null.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Go turns structs ↔ JSON with encoding/json (and Gin helpers).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Wrong JSON from a client → 400 later. Today we mostly send JSON.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5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7 /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2743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24E1D"/>
                </a:solidFill>
                <a:latin typeface="Calibri"/>
              </a:rPr>
              <a:t>LIVE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STDLIB FIRST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380744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net/http Hello — 30 minutes, no Gin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011680"/>
            <a:ext cx="10972800" cy="292608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package main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import ("fmt"; "net/http")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func main() {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   http.HandleFunc("/hello", func(w http.ResponseWriter, r *http.Request) {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       fmt.Fprintln(w, "hello from stdlib")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   })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   http.ListenAndServe(":8080", nil)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120640"/>
            <a:ext cx="10972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4D5D6B"/>
                </a:solidFill>
                <a:latin typeface="Calibri"/>
              </a:rPr>
              <a:t>curl http://localhost:8080/hello — Gin is a nicer router on top of this idea.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5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8 /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4202B"/>
                </a:solidFill>
                <a:latin typeface="Calibri"/>
              </a:rPr>
              <a:t>A router + helpers on top of net/http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6596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Framework rule for this course: stdlib first, Gin for SMS.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You must be able to say what Gin is wrapping — routing, JSON, middleware later.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Add the dependency once you are in backend/: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4297680"/>
            <a:ext cx="10972800" cy="128016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go get github.com/gin-gonic/gin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go mod tidy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5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9 /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Router, context, JSON response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874519"/>
            <a:ext cx="10972800" cy="256032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r := gin.Default()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r.GET("/health", func(c *gin.Context) {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  c.JSON(200, gin.H{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      "status":  "ok",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      "message": "Backend is running",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  })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})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r.Run(":8080")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6634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14202B"/>
                </a:solidFill>
                <a:latin typeface="Calibri"/>
              </a:rPr>
              <a:t>•  gin.Context is the per-request bag: params, body, response writers.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4202B"/>
                </a:solidFill>
                <a:latin typeface="Calibri"/>
              </a:rPr>
              <a:t>•  gin.H is map[string]any — fine for health. Prefer structs as APIs grow.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5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10 /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STRUCTS · MINIMAL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4202B"/>
                </a:solidFill>
                <a:latin typeface="Calibri"/>
              </a:rPr>
              <a:t>Just enough for JSON tags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874519"/>
            <a:ext cx="10972800" cy="274320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type HealthResponse struct {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   Status  string `json:"status"`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   Message string `json:"message"`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c.JSON(http.StatusOK, HealthResponse{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   Status:  "ok",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   Message: "Backend is running",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})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8463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14202B"/>
                </a:solidFill>
                <a:latin typeface="Calibri"/>
              </a:rPr>
              <a:t>•  Exported fields (capital letters) are what JSON can see.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4202B"/>
                </a:solidFill>
                <a:latin typeface="Calibri"/>
              </a:rPr>
              <a:t>•  Tag renames the wire name. Deep structs are week 7 — copy this pattern today.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5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11 /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SMS MILESTONE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4202B"/>
                </a:solidFill>
                <a:latin typeface="Calibri"/>
              </a:rPr>
              <a:t>GET /health — the contract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874519"/>
            <a:ext cx="10972800" cy="237744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GET http://localhost:8080/health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200 OK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"status": "ok",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"message": "Backend is running"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48056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14202B"/>
                </a:solidFill>
                <a:latin typeface="Calibri"/>
              </a:rPr>
              <a:t>•  Keep the JSON keys exact — status and message.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4202B"/>
                </a:solidFill>
                <a:latin typeface="Calibri"/>
              </a:rPr>
              <a:t>•  Also add GET /api/hello with a small JSON message (practice).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4202B"/>
                </a:solidFill>
                <a:latin typeface="Calibri"/>
              </a:rPr>
              <a:t>•  Listen on :8080.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5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12 /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2743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24E1D"/>
                </a:solidFill>
                <a:latin typeface="Calibri"/>
              </a:rPr>
              <a:t>LIVE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SMS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380744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Wire health into cmd/server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011680"/>
            <a:ext cx="10972800" cy="384048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package main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import (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   "net/http"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   "github.com/gin-gonic/gin"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func main() {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   r := gin.Default()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   r.GET("/health", func(c *gin.Context) {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       c.JSON(http.StatusOK, gin.H{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           "status": "ok", "message": "Backend is running",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       })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   })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   r.Run(":8080")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5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13 /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ALSO TODAY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GET /api/hello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874519"/>
            <a:ext cx="10972800" cy="201168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r.GET("/api/hello", func(c *gin.Context) {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  c.JSON(http.StatusOK, gin.H{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      "message": "hello from SMS",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  })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})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1148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Groups come later; a full path is fine for day 1.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Stretch homework: hard-coded GET /api/students JSON array — still no DB.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5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14 /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STATUS CODES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Pick the number that matches the story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920240"/>
            <a:ext cx="5394960" cy="164592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/>
            <a:r>
              <a:rPr sz="1600" b="1">
                <a:solidFill>
                  <a:srgbClr val="084F4B"/>
                </a:solidFill>
                <a:latin typeface="Calibri"/>
              </a:rPr>
              <a:t>200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4202B"/>
                </a:solidFill>
                <a:latin typeface="Calibri"/>
              </a:rPr>
              <a:t>Success with a body (health, hello).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920240"/>
            <a:ext cx="5212080" cy="164592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/>
            <a:r>
              <a:rPr sz="1600" b="1">
                <a:solidFill>
                  <a:srgbClr val="084F4B"/>
                </a:solidFill>
                <a:latin typeface="Calibri"/>
              </a:rPr>
              <a:t>201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4202B"/>
                </a:solidFill>
                <a:latin typeface="Calibri"/>
              </a:rPr>
              <a:t>Created — next weeks for POST student.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749039"/>
            <a:ext cx="5394960" cy="164592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/>
            <a:r>
              <a:rPr sz="1600" b="1">
                <a:solidFill>
                  <a:srgbClr val="084F4B"/>
                </a:solidFill>
                <a:latin typeface="Calibri"/>
              </a:rPr>
              <a:t>400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4202B"/>
                </a:solidFill>
                <a:latin typeface="Calibri"/>
              </a:rPr>
              <a:t>Client sent junk. Your validation said no.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749039"/>
            <a:ext cx="5212080" cy="164592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/>
            <a:r>
              <a:rPr sz="1600" b="1">
                <a:solidFill>
                  <a:srgbClr val="084F4B"/>
                </a:solidFill>
                <a:latin typeface="Calibri"/>
              </a:rPr>
              <a:t>404 / 500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4202B"/>
                </a:solidFill>
                <a:latin typeface="Calibri"/>
              </a:rPr>
              <a:t>Missing resource / you crashed or failed internally.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5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15 /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VALIDATION · LIGHT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4202B"/>
                </a:solidFill>
                <a:latin typeface="Calibri"/>
              </a:rPr>
              <a:t>Reject bad input with 400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874519"/>
            <a:ext cx="10972800" cy="182880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// idea for later POSTs — not required on /health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if name == "" {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  c.JSON(http.StatusBadRequest, gin.H{"error": "name required"})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  return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93192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Health has no body — still teach the pattern once.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Consistent error JSON helps Postman and future frontend.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Do not panic in a handler. Return a status and a message.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5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16 /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2743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24E1D"/>
                </a:solidFill>
                <a:latin typeface="Calibri"/>
              </a:rPr>
              <a:t>LIVE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CURL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380744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Prove it from the terminal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011680"/>
            <a:ext cx="10972800" cy="146304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curl -i http://localhost:8080/health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curl -s http://localhost:8080/api/hello | jq 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749039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-i shows status line and headers.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If the port is busy, someone else’s server is still running — kill it or change port temporarily.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5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17 /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POSTMAN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The GUI you will live 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659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New request → method GET → URL http://localhost:8080/health → Send.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Expect 200 and the JSON body. Screenshot for homework.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Start a collection: SMS → folder Week 5 → requests Health, Hello.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Save the collection; you will add Students in week 7.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5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18 /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CORS · MENTION 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4202B"/>
                </a:solidFill>
                <a:latin typeface="Calibri"/>
              </a:rPr>
              <a:t>Browsers are pickier than Postman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659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Postman and curl are not browsers. They ignore CORS.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The React app on :5173 will need CORS later (week 15).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Do not implement CORS today. Know the word exists.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5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19 /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PROJECT SHAPE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Where does this code live?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659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Minimum today: routes in cmd/server/main.go so it runs.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Better: internal/routes registers /health; main only builds the engine and Run.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Handlers package can wait until week 6 refactor — do not block on perfect layers.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4846320"/>
            <a:ext cx="10972800" cy="109728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go run ./cmd/server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# listen :8080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5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20 /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LAB · REST OF CLASS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Done when all of this is true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659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go get Gin; go.mod shows the require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GET /health returns the exact JSON contract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GET /api/hello returns JSON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curl -i shows 200; Postman collection started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Commit + push; show me the Postman 200 screenshot path or PR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5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21 /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HOMEWORK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PR + Postman proof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659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PR: health + hello working on :8080.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README: how to run + example curl.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Attach / commit a Postman 200 screenshot (or export collection).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Stretch: GET /api/students returns a hard-coded JSON array (no DB).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5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22 /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NEXT SESSION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Week 6 — functions and methods inside SMS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659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Extract handlers from main into a handlers package.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defer, multiple returns — deepen, still in your API.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Bring a green health endpoint.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5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23 /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WORDS TO KEEP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Say these correctly next week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920240"/>
            <a:ext cx="5394960" cy="164592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/>
            <a:r>
              <a:rPr sz="1600" b="1">
                <a:solidFill>
                  <a:srgbClr val="084F4B"/>
                </a:solidFill>
                <a:latin typeface="Calibri"/>
              </a:rPr>
              <a:t>Handler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4202B"/>
                </a:solidFill>
                <a:latin typeface="Calibri"/>
              </a:rPr>
              <a:t>Function the router calls for a method+path.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920240"/>
            <a:ext cx="5212080" cy="164592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/>
            <a:r>
              <a:rPr sz="1600" b="1">
                <a:solidFill>
                  <a:srgbClr val="084F4B"/>
                </a:solidFill>
                <a:latin typeface="Calibri"/>
              </a:rPr>
              <a:t>Status code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4202B"/>
                </a:solidFill>
                <a:latin typeface="Calibri"/>
              </a:rPr>
              <a:t>Number telling the client how it went.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749039"/>
            <a:ext cx="5394960" cy="164592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/>
            <a:r>
              <a:rPr sz="1600" b="1">
                <a:solidFill>
                  <a:srgbClr val="084F4B"/>
                </a:solidFill>
                <a:latin typeface="Calibri"/>
              </a:rPr>
              <a:t>JSON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4202B"/>
                </a:solidFill>
                <a:latin typeface="Calibri"/>
              </a:rPr>
              <a:t>Text body shape for APIs.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749039"/>
            <a:ext cx="5212080" cy="164592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/>
            <a:r>
              <a:rPr sz="1600" b="1">
                <a:solidFill>
                  <a:srgbClr val="084F4B"/>
                </a:solidFill>
                <a:latin typeface="Calibri"/>
              </a:rPr>
              <a:t>Gin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4202B"/>
                </a:solidFill>
                <a:latin typeface="Calibri"/>
              </a:rPr>
              <a:t>Router/helpers over net/http — not magic.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5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24 /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SAFETY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Still true on an API week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659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No secrets in git. .env stays ignored.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Do not commit the binary from go build.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Port 8080 conflict: find and stop the old process.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You are not graded on React today — Postman is enough.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EAD9A3"/>
                </a:solidFill>
                <a:latin typeface="Calibri"/>
              </a:rPr>
              <a:t>WEEK 5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25 /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43200"/>
            <a:ext cx="109728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6400" b="1">
                <a:solidFill>
                  <a:srgbClr val="FFFFFF"/>
                </a:solidFill>
                <a:latin typeface="Calibri"/>
              </a:rPr>
              <a:t>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