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 week 4. Handlers from week 6 must exist. Today: models.Student, map store, POST+GET students. No JWT. No Postgres.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Fix broken week-6 refactors in first 10 minutes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Update/delete are homework. Lab is create +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COURSE.md / this repo models.Student.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type. Connect to week 2 zeros.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encode/decode with encoding/json or Gin ShouldBindJSON.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FullName from week 6; optional method on Student.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Pace valve. One slide. Skip live if create/list eats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Repository interface lands week 8/13. Do not over-abstract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Canonical story. No need to implement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Mutex optional one-liner. Full race week 12. Slice store also 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Board the three routes. Homework adds PUT + DELETE.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time.Time DOB in live if slow; string DOB ok for week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Postman POST. Show 400 with broken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curl list after two creates. Order may vary — say 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room on JSON typos and trailing commas.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live 400 demo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to maps literacy.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Gate on board. Update/delete not required to leave.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Homework sheet has the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extract repository today unless someone finishes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Oral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Store can live in student handler file for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expectations; avoid shame about 'toy' store.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Then models → create → list → Postman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EAD9A3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65960"/>
            <a:ext cx="10972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>
                <a:solidFill>
                  <a:srgbClr val="EAD9A3"/>
                </a:solidFill>
                <a:latin typeface="Calibri"/>
              </a:rPr>
              <a:t>GO PROGRAMMING MASTER COURSE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331720"/>
            <a:ext cx="10972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4800" b="1">
                <a:solidFill>
                  <a:srgbClr val="FFFFFF"/>
                </a:solidFill>
                <a:latin typeface="Calibri"/>
              </a:rPr>
              <a:t>Week 7, 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83280"/>
            <a:ext cx="100584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200" b="0">
                <a:solidFill>
                  <a:srgbClr val="E7DDD0"/>
                </a:solidFill>
                <a:latin typeface="Calibri"/>
              </a:rPr>
              <a:t>Structs, JSON tags, and in-memory students — create and list via Postman.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846320"/>
            <a:ext cx="1005840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>
                <a:solidFill>
                  <a:srgbClr val="D7CBB8"/>
                </a:solidFill>
                <a:latin typeface="Calibri"/>
              </a:rPr>
              <a:t>Umesh Indrajith · BSc Eng (Hons), University of Moratuwa
Senior Software Engineer / Lecturer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SINCE LAST WEEK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14202B"/>
                </a:solidFill>
                <a:latin typeface="Calibri"/>
              </a:rPr>
              <a:t>Handlers extracted. Now give them data shapes.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Health + hello still 200. internal/handlers is real.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Cold-call: method vs function? Why pointer receiver on handlers?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Today we add structs and an in-memory student store.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Still no database. Still no JWT. Product grows in memory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3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TODAY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If Day 1 of week 7 works, you 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Define a struct with exported fields and composite literals.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Round-trip JSON with tags like `json:"first_name"`.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Explain a tiny interface (error) and accept interfaces, return structs.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Store students in a map[int]Student (or slice).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Ship POST /api/students, GET /api/students, GET /api/students/:id.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4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SOFTWARE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A model is a shared language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20240"/>
            <a:ext cx="10972800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>
                <a:solidFill>
                  <a:srgbClr val="4D5D6B"/>
                </a:solidFill>
                <a:latin typeface="Calibri"/>
              </a:rPr>
              <a:t>JSON field names are a contract with Postman and later the React client. Tags make Go names and wire names both sane.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SMS fields: first/last name, email, phone, course, date of birth.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In-memory now → same shapes against Postgres in week 14.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Invalid JSON → 400, not a panic.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5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STRUCTS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Named fields, one type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74320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type Student struct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ID        int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FirstName string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LastName  string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Email     string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Course    string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s := Student{FirstName: "Ada", LastName: "Lovelace", Course: "SE"}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Capital field = exported (visible outside the package / in JSON by default).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Composite literal: set the fields you care about; others get zero values.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6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JSON TAGS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Wire names that match the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74320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type Student struct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ID        int    `json:"id"`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FirstName string `json:"first_name"`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LastName  string `json:"last_name"`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Email     string `json:"email"`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Course    string `json:"course"`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Without tags, JSON would say FirstName. We want first_name.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Match this repo’s model tags. Ignore DB tags until week 14.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7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METHODS ON STRUCTS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Behaviour next to 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func (s Student) FullName() string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return s.FirstName + " " + s.LastName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// or reuse handlers.FullName(s.FirstName, s.LastName)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Value receiver is fine for read-only helpers.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Store / handler that mutates the map → pointer receiver on the handler type.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8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EMBEDDING ·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Composition, not inheritance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37744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type Timestamps struct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CreatedAt time.Time `json:"created_at"`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type Student struct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ID int `json:"id"`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Timestamps // embeds fields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805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Go has no class hierarchy. Embed when you want fields/methods promoted.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Optional today — do not force embedding in the lab.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9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INTERFACES · 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14202B"/>
                </a:solidFill>
                <a:latin typeface="Calibri"/>
              </a:rPr>
              <a:t>Small surfaces. error is an interface.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type error interface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Error() string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// later: type StudentStore interface { Create(...); List() ...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Accept interfaces, return structs — depend on behaviour, hand back concrete values.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Today you may still return concrete []Student. Plant the proverb.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10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IO.READER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The request body is a reader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io.Reader — something you can read bytes from.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io.Writer — something you can write bytes to.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Gin’s c.Request.Body is a reader; ShouldBindJSON reads it into your struct.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That is why interfaces matter: one decode works for files, buffers, and HTTP bodies.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11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IN-MEMORY 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14202B"/>
                </a:solidFill>
                <a:latin typeface="Calibri"/>
              </a:rPr>
              <a:t>map[int]Student is enough this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0116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var (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mu       sync.Mutex // optional; week 12 locks for real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students = map[int]models.Student{}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nextID   = 1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Create assigns nextID, stores, increments.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List ranges the map (order not promised — sort IDs if tests need order).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Get by id: comma-ok. Missing → 404.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12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SMS MILESTONE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Three routes today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37744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POST /api/students          → 201 + created student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GET  /api/students          → 200 + array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GET  /api/students/:id      → 200 or 404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No JWT. No Postgres.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8056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Request body uses first_name, last_name, email, course, …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Bad JSON / missing required fields → 400 with {"error":"..."}.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13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24E1D"/>
                </a:solidFill>
                <a:latin typeface="Calibri"/>
              </a:rPr>
              <a:t>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380744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Add internal/models/student.go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011680"/>
            <a:ext cx="10972800" cy="365760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package models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type Student struct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ID        int    `json:"id"`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FirstName string `json:"first_name"`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LastName  string `json:"last_name"`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Email     string `json:"email"`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Phone     string `json:"phone"`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Course    string `json:"course"`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14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24E1D"/>
                </a:solidFill>
                <a:latin typeface="Calibri"/>
              </a:rPr>
              <a:t>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CREATE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380744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POST /api/students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011680"/>
            <a:ext cx="10972800" cy="365760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func (h *StudentHandler) Create(c *gin.Context)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var req models.Student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if err := c.ShouldBindJSON(&amp;req); err != nil 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    c.JSON(400, gin.H{"error": "invalid json"})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    return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}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  // assign id, store in map, c.JSON(201, saved)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15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2743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>
                <a:solidFill>
                  <a:srgbClr val="C24E1D"/>
                </a:solidFill>
                <a:latin typeface="Calibri"/>
              </a:rPr>
              <a:t>LIVE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LIST + 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380744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GET collection and by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011680"/>
            <a:ext cx="10972800" cy="34747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r.POST("/api/students", student.Create)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r.GET("/api/students", student.List)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r.GET("/api/students/:id", student.GetByID)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// GetByID: id, err := strconv.Atoi(c.Param("id"))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// s, ok := students[id]; if !ok { 404 }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16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POSTMAN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Collection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74519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Folder Week 7: Create student, List students, Get by id.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Create: Body → raw → JSON with first_name etc.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4202B"/>
                </a:solidFill>
                <a:latin typeface="Calibri"/>
              </a:rPr>
              <a:t>•  Save an example 201 response. Homework will add Update / Delete.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840480"/>
            <a:ext cx="10972800" cy="219456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"first_name": "Ada",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"last_name": "Lovelace",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"email": "ada@example.com",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"phone": "0770000000",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  "course": "SE"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8F2E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17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Reject junk with 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ShouldBindJSON fails → 400.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Empty first_name / email → 400 with a clear error string.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Do not panic. Do not return 500 for bad client input.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Gin binding:"required" is fine if you introduce a request struct.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18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404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Missing id is not a server crash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256032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s, ok := students[id]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if !ok {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c.JSON(http.StatusNotFound, gin.H{"error": "student not found"})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return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c.JSON(http.StatusOK, 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6634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Comma-ok again — same idea as week 3 maps.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Wrong id type (/api/students/abc) → 400.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19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LAB · REST OF 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Done when all of this is true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models.Student with JSON tags exists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Postman POST creates a student (201)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Postman GET list shows it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Get by id works; unknown id → 404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Broken JSON → 400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4202B"/>
                </a:solidFill>
                <a:latin typeface="Calibri"/>
              </a:rPr>
              <a:t>•  Health still green; commit / PR started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20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HOMEWORK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Update + delete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PUT /api/students/:id — replace fields; missing → 404; bad JSON → 400.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DELETE /api/students/:id — remove; missing → 404.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Postman screenshots or collection export in the PR.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Still no JWT / Postgres.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21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NEXT SESSION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>
                <a:solidFill>
                  <a:srgbClr val="14202B"/>
                </a:solidFill>
                <a:latin typeface="Calibri"/>
              </a:rPr>
              <a:t>Week 8 — pointers, memory, repository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Move the map into a StudentRepository.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Handlers call the repo — HTTP must not own storage forever.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Bring working create + list (and homework update/delete if done).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22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WORDS TO KEEP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Say these correctly next week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920240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Struct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Grouped fields under one type.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920240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JSON tag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Renames fields on the wire.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749039"/>
            <a:ext cx="539496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Interface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Set of methods; error is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749039"/>
            <a:ext cx="5212080" cy="1645920"/>
          </a:xfrm>
          <a:prstGeom prst="roundRect">
            <a:avLst>
              <a:gd name="adj" fmla="val 8000"/>
            </a:avLst>
          </a:prstGeom>
          <a:solidFill>
            <a:srgbClr val="FFFDF9"/>
          </a:solidFill>
          <a:ln>
            <a:solidFill>
              <a:srgbClr val="D8CF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09728" tIns="109728"/>
          <a:lstStyle/>
          <a:p>
            <a:pPr algn="ctr"/>
            <a:r>
              <a:rPr sz="1600" b="1">
                <a:solidFill>
                  <a:srgbClr val="084F4B"/>
                </a:solidFill>
                <a:latin typeface="Calibri"/>
              </a:rPr>
              <a:t>In-memory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14202B"/>
                </a:solidFill>
                <a:latin typeface="Calibri"/>
              </a:rPr>
              <a:t>Store in process RAM — lost on restart.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23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LAYOUT REMINDER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Where the new files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1874519"/>
            <a:ext cx="10972800" cy="3840480"/>
          </a:xfrm>
          <a:prstGeom prst="roundRect">
            <a:avLst>
              <a:gd name="adj" fmla="val 8000"/>
            </a:avLst>
          </a:prstGeom>
          <a:solidFill>
            <a:srgbClr val="102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 bIns="91440"/>
          <a:lstStyle/>
          <a:p>
            <a:pPr algn="ctr"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backend/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cmd/server/main.go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internal/models/student.go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internal/handlers/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health.go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hello.go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student.go          # Create, List, GetByID (+ homework)</a:t>
            </a:r>
          </a:p>
          <a:p>
            <a:pPr>
              <a:spcAft>
                <a:spcPts val="200"/>
              </a:spcAft>
            </a:pPr>
            <a:r>
              <a:rPr sz="1500" b="0">
                <a:solidFill>
                  <a:srgbClr val="E8F2EF"/>
                </a:solidFill>
                <a:latin typeface="Consolas"/>
              </a:rPr>
              <a:t>    name.go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24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HONEST LIMITS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What this week is not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Not durable — restart wipes students.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Not multi-user safe yet — races possible under load (week 12).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Not authenticated — anyone can POST (week 15).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That is intentional spiral teaching.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084F4B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25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868680"/>
            <a:ext cx="109728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>
                <a:solidFill>
                  <a:srgbClr val="0B6E68"/>
                </a:solidFill>
                <a:latin typeface="Calibri"/>
              </a:rPr>
              <a:t>SAFETY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124712"/>
            <a:ext cx="10972800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200" b="1">
                <a:solidFill>
                  <a:srgbClr val="14202B"/>
                </a:solidFill>
                <a:latin typeface="Calibri"/>
              </a:rPr>
              <a:t>Still true with POST bodies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96596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Never log passwords (none today — good).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Do not commit real emails of classmates without consent — use example.com.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4202B"/>
                </a:solidFill>
                <a:latin typeface="Calibri"/>
              </a:rPr>
              <a:t>•  gofmt; no binaries; .env still ignored.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pic-learn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09728"/>
            <a:ext cx="127497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326880" y="201168"/>
            <a:ext cx="2560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200" b="1">
                <a:solidFill>
                  <a:srgbClr val="EAD9A3"/>
                </a:solidFill>
                <a:latin typeface="Calibri"/>
              </a:rPr>
              <a:t>WEEK 7  ·  DAY 1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713232"/>
            <a:ext cx="11551615" cy="18288"/>
          </a:xfrm>
          <a:prstGeom prst="rect">
            <a:avLst/>
          </a:prstGeom>
          <a:solidFill>
            <a:srgbClr val="D9B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6473952"/>
            <a:ext cx="11551615" cy="13716"/>
          </a:xfrm>
          <a:prstGeom prst="rect">
            <a:avLst/>
          </a:prstGeom>
          <a:solidFill>
            <a:srgbClr val="0A2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28816"/>
            <a:ext cx="9601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>
                <a:solidFill>
                  <a:srgbClr val="0A2A5C"/>
                </a:solidFill>
                <a:latin typeface="Calibri"/>
              </a:rPr>
              <a:t>Epic Learn Institute of Higher Education - Go Programming Master Course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28816"/>
            <a:ext cx="146304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0">
                <a:solidFill>
                  <a:srgbClr val="4D5D6B"/>
                </a:solidFill>
                <a:latin typeface="Calibri"/>
              </a:rPr>
              <a:t>26 / 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43200"/>
            <a:ext cx="109728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6400" b="1">
                <a:solidFill>
                  <a:srgbClr val="FFFFFF"/>
                </a:solidFill>
                <a:latin typeface="Calibri"/>
              </a:rPr>
              <a:t>Questions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